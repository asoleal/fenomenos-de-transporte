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70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8Emok/gULINDwMAafnktAe/n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115C37-9620-4AD7-B0C3-B620C3C9683C}">
  <a:tblStyle styleId="{EA115C37-9620-4AD7-B0C3-B620C3C9683C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103" name="Google Shape;103;p2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118" name="Google Shape;118;p2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1"/>
          </p:nvPr>
        </p:nvSpPr>
        <p:spPr>
          <a:xfrm rot="5400000">
            <a:off x="3035282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1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9;p15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5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5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5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4967310-45CD-423A-8F39-029B1D9B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13" y="134390"/>
            <a:ext cx="10515600" cy="1325563"/>
          </a:xfrm>
        </p:spPr>
        <p:txBody>
          <a:bodyPr/>
          <a:lstStyle/>
          <a:p>
            <a:r>
              <a:rPr lang="es-CO" dirty="0"/>
              <a:t>Ecuaciones (</a:t>
            </a:r>
            <a:r>
              <a:rPr lang="es-CO" dirty="0" err="1"/>
              <a:t>alles</a:t>
            </a:r>
            <a:r>
              <a:rPr lang="es-CO" dirty="0"/>
              <a:t> </a:t>
            </a:r>
            <a:r>
              <a:rPr lang="es-CO" dirty="0" err="1"/>
              <a:t>ist</a:t>
            </a:r>
            <a:r>
              <a:rPr lang="es-CO" dirty="0"/>
              <a:t> </a:t>
            </a:r>
            <a:r>
              <a:rPr lang="es-CO" dirty="0" err="1"/>
              <a:t>verbunden</a:t>
            </a:r>
            <a:r>
              <a:rPr lang="es-CO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F80FF762-CCB1-41DB-BC6E-7BE06327785A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1668715015"/>
                  </p:ext>
                </p:extLst>
              </p:nvPr>
            </p:nvGraphicFramePr>
            <p:xfrm>
              <a:off x="560439" y="877728"/>
              <a:ext cx="10837585" cy="577669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894">
                      <a:extLst>
                        <a:ext uri="{9D8B030D-6E8A-4147-A177-3AD203B41FA5}">
                          <a16:colId xmlns:a16="http://schemas.microsoft.com/office/drawing/2014/main" val="1146877094"/>
                        </a:ext>
                      </a:extLst>
                    </a:gridCol>
                    <a:gridCol w="6772691">
                      <a:extLst>
                        <a:ext uri="{9D8B030D-6E8A-4147-A177-3AD203B41FA5}">
                          <a16:colId xmlns:a16="http://schemas.microsoft.com/office/drawing/2014/main" val="586352626"/>
                        </a:ext>
                      </a:extLst>
                    </a:gridCol>
                  </a:tblGrid>
                  <a:tr h="5207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Continuidad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𝜕𝜌</m:t>
                                    </m:r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4471244"/>
                      </a:ext>
                    </a:extLst>
                  </a:tr>
                  <a:tr h="5371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Movimiento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𝜕𝜌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𝑃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̿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𝜏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𝜌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highlight>
                                      <a:srgbClr val="00FFFF"/>
                                    </a:highlight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es-CO" sz="1600" dirty="0">
                            <a:highlight>
                              <a:srgbClr val="00FFFF"/>
                            </a:highlight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732286"/>
                      </a:ext>
                    </a:extLst>
                  </a:tr>
                  <a:tr h="4281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Tensor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̿"/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𝜏</m:t>
                                    </m:r>
                                  </m:e>
                                </m:acc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𝜌</m:t>
                                </m:r>
                                <m:sSub>
                                  <m:sSub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𝛻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.</m:t>
                                    </m:r>
                                    <m:d>
                                      <m:d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s-CO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acc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s-CO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fr-FR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</m:acc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5461302"/>
                      </a:ext>
                    </a:extLst>
                  </a:tr>
                  <a:tr h="7099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Viscosidad turbulenta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O" sz="2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fr-FR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sz="2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fr-FR" sz="2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s-CO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s-CO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CO" sz="2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fr-FR" sz="2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2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𝜀</m:t>
                                  </m:r>
                                </m:den>
                              </m:f>
                            </m:oMath>
                          </a14:m>
                          <a:r>
                            <a:rPr lang="fr-FR" sz="16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s-CO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995208"/>
                      </a:ext>
                    </a:extLst>
                  </a:tr>
                  <a:tr h="59971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Modelo K-E para turbulencia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𝜕𝜌𝜅</m:t>
                                    </m:r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𝜅</m:t>
                                    </m:r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s-CO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s-CO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𝜌𝜀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4323705"/>
                      </a:ext>
                    </a:extLst>
                  </a:tr>
                  <a:tr h="604360">
                    <a:tc vMerge="1"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𝜕𝜌𝜀</m:t>
                                    </m:r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𝛻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s-CO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s-CO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𝜀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𝜅</m:t>
                                    </m:r>
                                  </m:den>
                                </m:f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𝜅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513258"/>
                      </a:ext>
                    </a:extLst>
                  </a:tr>
                  <a:tr h="482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Ecuación de trasporte de  energía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s-CO" sz="16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fr-FR" sz="16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𝛻</m:t>
                              </m:r>
                              <m:r>
                                <a:rPr lang="fr-FR" sz="16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s-CO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𝜌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s-CO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𝑣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s-CO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fr-FR" sz="16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𝛻</m:t>
                              </m:r>
                              <m:r>
                                <a:rPr lang="fr-FR" sz="16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s-CO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O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𝛻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fr-FR" sz="1600" i="1" kern="1200" dirty="0">
                              <a:solidFill>
                                <a:schemeClr val="tx1"/>
                              </a:solidFill>
                              <a:effectLst/>
                              <a:highlight>
                                <a:srgbClr val="00FFFF"/>
                              </a:highlight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s-CO" sz="1600" dirty="0">
                            <a:highlight>
                              <a:srgbClr val="00FFFF"/>
                            </a:highlight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2830728"/>
                      </a:ext>
                    </a:extLst>
                  </a:tr>
                  <a:tr h="5599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Conductividad efectiva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fr-FR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𝑒𝑓𝑓</m:t>
                                    </m:r>
                                  </m:sub>
                                </m:sSub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𝐾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𝑟𝑡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s-CO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522805"/>
                      </a:ext>
                    </a:extLst>
                  </a:tr>
                  <a:tr h="5649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Ecuación de trasporte de masa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s-CO" sz="16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lang="es-CO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𝛻</m:t>
                              </m:r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s-CO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𝜌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s-CO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6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𝑣</m:t>
                                      </m:r>
                                    </m:e>
                                  </m:acc>
                                  <m:r>
                                    <a:rPr lang="es-CO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𝛻</m:t>
                              </m:r>
                              <m:r>
                                <a:rPr lang="fr-FR" sz="1600" i="1" kern="120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s-CO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s-CO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𝛻</m:t>
                                  </m:r>
                                  <m:r>
                                    <a:rPr lang="fr-FR" sz="16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lang="es-CO" sz="16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fr-FR" sz="16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∓</m:t>
                              </m:r>
                              <m:r>
                                <a:rPr lang="es-CO" sz="16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𝑅𝑖</m:t>
                              </m:r>
                            </m:oMath>
                          </a14:m>
                          <a:r>
                            <a:rPr lang="fr-FR" sz="1600" i="1" kern="1200" dirty="0">
                              <a:solidFill>
                                <a:schemeClr val="tx1"/>
                              </a:solidFill>
                              <a:effectLst/>
                              <a:highlight>
                                <a:srgbClr val="00FFFF"/>
                              </a:highlight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s-CO" sz="1600" dirty="0">
                            <a:highlight>
                              <a:srgbClr val="00FFFF"/>
                            </a:highlight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17490"/>
                      </a:ext>
                    </a:extLst>
                  </a:tr>
                  <a:tr h="476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Difusión másica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6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fr-FR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𝜌</m:t>
                                </m:r>
                                <m:r>
                                  <a:rPr lang="es-CO" sz="16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𝐷</m:t>
                                </m:r>
                                <m:r>
                                  <a:rPr lang="fr-FR" sz="16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CO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CO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fr-FR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highlight>
                                              <a:srgbClr val="FFFF00"/>
                                            </a:highlight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CO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highlight>
                                          <a:srgbClr val="FFFF00"/>
                                        </a:highlight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𝑠𝑐h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57982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F80FF762-CCB1-41DB-BC6E-7BE06327785A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1668715015"/>
                  </p:ext>
                </p:extLst>
              </p:nvPr>
            </p:nvGraphicFramePr>
            <p:xfrm>
              <a:off x="560439" y="877728"/>
              <a:ext cx="10837585" cy="577669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894">
                      <a:extLst>
                        <a:ext uri="{9D8B030D-6E8A-4147-A177-3AD203B41FA5}">
                          <a16:colId xmlns:a16="http://schemas.microsoft.com/office/drawing/2014/main" val="1146877094"/>
                        </a:ext>
                      </a:extLst>
                    </a:gridCol>
                    <a:gridCol w="6772691">
                      <a:extLst>
                        <a:ext uri="{9D8B030D-6E8A-4147-A177-3AD203B41FA5}">
                          <a16:colId xmlns:a16="http://schemas.microsoft.com/office/drawing/2014/main" val="586352626"/>
                        </a:ext>
                      </a:extLst>
                    </a:gridCol>
                  </a:tblGrid>
                  <a:tr h="555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Continuidad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1099" r="-180" b="-9472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71244"/>
                      </a:ext>
                    </a:extLst>
                  </a:tr>
                  <a:tr h="5726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Movimiento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97872" r="-180" b="-8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32286"/>
                      </a:ext>
                    </a:extLst>
                  </a:tr>
                  <a:tr h="4563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Tensor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248000" r="-180" b="-9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5461302"/>
                      </a:ext>
                    </a:extLst>
                  </a:tr>
                  <a:tr h="756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Viscosidad turbulenta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208800" r="-180" b="-454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5995208"/>
                      </a:ext>
                    </a:extLst>
                  </a:tr>
                  <a:tr h="63931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CO" dirty="0"/>
                            <a:t>Modelo K-E para turbulencia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367619" r="-180" b="-44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4323705"/>
                      </a:ext>
                    </a:extLst>
                  </a:tr>
                  <a:tr h="644271">
                    <a:tc vMerge="1">
                      <a:txBody>
                        <a:bodyPr/>
                        <a:lstStyle/>
                        <a:p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467619" r="-180" b="-34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513258"/>
                      </a:ext>
                    </a:extLst>
                  </a:tr>
                  <a:tr h="482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Ecuación de trasporte de  energía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745000" r="-180" b="-34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30728"/>
                      </a:ext>
                    </a:extLst>
                  </a:tr>
                  <a:tr h="5969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Conductividad efectiva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689796" r="-180" b="-183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522805"/>
                      </a:ext>
                    </a:extLst>
                  </a:tr>
                  <a:tr h="5649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Ecuación de trasporte de masa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832258" r="-180" b="-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8317490"/>
                      </a:ext>
                    </a:extLst>
                  </a:tr>
                  <a:tr h="5074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dirty="0">
                              <a:highlight>
                                <a:srgbClr val="FFFF00"/>
                              </a:highlight>
                            </a:rPr>
                            <a:t>Difusión másica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60072" t="-1044578" r="-180" b="-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57982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9583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O"/>
              <a:t>Conductividad en una dimensión </a:t>
            </a:r>
            <a:endParaRPr/>
          </a:p>
        </p:txBody>
      </p:sp>
      <p:sp>
        <p:nvSpPr>
          <p:cNvPr id="197" name="Google Shape;197;p9"/>
          <p:cNvSpPr txBox="1">
            <a:spLocks noGrp="1"/>
          </p:cNvSpPr>
          <p:nvPr>
            <p:ph type="body" idx="1"/>
          </p:nvPr>
        </p:nvSpPr>
        <p:spPr>
          <a:xfrm>
            <a:off x="677334" y="2160590"/>
            <a:ext cx="6513579" cy="31837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1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CO"/>
              <a:t> </a:t>
            </a:r>
            <a:endParaRPr/>
          </a:p>
        </p:txBody>
      </p:sp>
      <p:cxnSp>
        <p:nvCxnSpPr>
          <p:cNvPr id="198" name="Google Shape;198;p9"/>
          <p:cNvCxnSpPr/>
          <p:nvPr/>
        </p:nvCxnSpPr>
        <p:spPr>
          <a:xfrm rot="10800000" flipH="1">
            <a:off x="6027938" y="2015231"/>
            <a:ext cx="390617" cy="1074198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O"/>
              <a:t>La malla para la discretización  </a:t>
            </a:r>
            <a:endParaRPr/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998" y="3429000"/>
            <a:ext cx="3887559" cy="64633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 txBox="1"/>
          <p:nvPr/>
        </p:nvSpPr>
        <p:spPr>
          <a:xfrm>
            <a:off x="4230537" y="2047707"/>
            <a:ext cx="1829955" cy="5068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6979659" y="1764474"/>
            <a:ext cx="4419270" cy="71468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372862" y="5326681"/>
            <a:ext cx="40570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Discretizar </a:t>
            </a: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 resolver estas ecuaciones simplificadas  o</a:t>
            </a:r>
            <a:r>
              <a:rPr lang="es-CO" sz="18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las completas </a:t>
            </a: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por métodos numéricos 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4795421" y="5052857"/>
            <a:ext cx="2601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Diferencias finitas </a:t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4511667" y="5788346"/>
            <a:ext cx="26011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Volúmenes finitos  (Ansys fluent) </a:t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677334" y="2146329"/>
            <a:ext cx="2297505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655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pic>
        <p:nvPicPr>
          <p:cNvPr id="211" name="Google Shape;211;p10"/>
          <p:cNvPicPr preferRelativeResize="0"/>
          <p:nvPr/>
        </p:nvPicPr>
        <p:blipFill rotWithShape="1">
          <a:blip r:embed="rId7">
            <a:alphaModFix/>
          </a:blip>
          <a:srcRect l="9958" r="12941" b="15767"/>
          <a:stretch/>
        </p:blipFill>
        <p:spPr>
          <a:xfrm>
            <a:off x="399078" y="3290500"/>
            <a:ext cx="2854015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/>
          <p:cNvPicPr preferRelativeResize="0"/>
          <p:nvPr/>
        </p:nvPicPr>
        <p:blipFill rotWithShape="1">
          <a:blip r:embed="rId8">
            <a:alphaModFix/>
          </a:blip>
          <a:srcRect r="7546" b="3118"/>
          <a:stretch/>
        </p:blipFill>
        <p:spPr>
          <a:xfrm>
            <a:off x="7619260" y="3085274"/>
            <a:ext cx="3912556" cy="252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CO"/>
              <a:t>Conducción una placa plana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5931261" y="1603434"/>
            <a:ext cx="4419270" cy="7146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4">
            <a:alphaModFix/>
          </a:blip>
          <a:srcRect r="7422" b="836"/>
          <a:stretch/>
        </p:blipFill>
        <p:spPr>
          <a:xfrm>
            <a:off x="801622" y="1409061"/>
            <a:ext cx="4432791" cy="291877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/>
        </p:nvSpPr>
        <p:spPr>
          <a:xfrm>
            <a:off x="899356" y="4555689"/>
            <a:ext cx="10063810" cy="6127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6356412" y="2760002"/>
            <a:ext cx="387954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Balance de T en el volumen de control y de flujos a través de las celdas</a:t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2641107" y="5279249"/>
            <a:ext cx="6098958" cy="4104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3478365" y="5920904"/>
            <a:ext cx="3512096" cy="6090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/>
        </p:nvSpPr>
        <p:spPr>
          <a:xfrm>
            <a:off x="3362308" y="5117876"/>
            <a:ext cx="3512096" cy="6090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</p:txBody>
      </p:sp>
      <p:pic>
        <p:nvPicPr>
          <p:cNvPr id="229" name="Google Shape;229;p12"/>
          <p:cNvPicPr preferRelativeResize="0"/>
          <p:nvPr/>
        </p:nvPicPr>
        <p:blipFill rotWithShape="1">
          <a:blip r:embed="rId4">
            <a:alphaModFix/>
          </a:blip>
          <a:srcRect l="15000" t="28055" r="37812" b="18611"/>
          <a:stretch/>
        </p:blipFill>
        <p:spPr>
          <a:xfrm>
            <a:off x="2447925" y="1140572"/>
            <a:ext cx="57531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180</Words>
  <Application>Microsoft Office PowerPoint</Application>
  <PresentationFormat>Panorámica</PresentationFormat>
  <Paragraphs>36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Noto Sans Symbols</vt:lpstr>
      <vt:lpstr>Trebuchet MS</vt:lpstr>
      <vt:lpstr>Faceta</vt:lpstr>
      <vt:lpstr>Ecuaciones (alles ist verbunden)</vt:lpstr>
      <vt:lpstr>Conductividad en una dimensión </vt:lpstr>
      <vt:lpstr>La malla para la discretización  </vt:lpstr>
      <vt:lpstr>Conducción una placa plana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Hugo fabian Lobaton garcia</dc:creator>
  <cp:lastModifiedBy>Hugo Lobaton</cp:lastModifiedBy>
  <cp:revision>2</cp:revision>
  <dcterms:created xsi:type="dcterms:W3CDTF">2020-08-21T13:13:06Z</dcterms:created>
  <dcterms:modified xsi:type="dcterms:W3CDTF">2025-09-27T14:12:39Z</dcterms:modified>
</cp:coreProperties>
</file>